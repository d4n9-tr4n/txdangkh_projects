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embeddedFontLst>
    <p:embeddedFont>
      <p:font typeface="Average"/>
      <p:regular r:id="rId16"/>
    </p:embeddedFont>
    <p:embeddedFont>
      <p:font typeface="Helvetica Neue"/>
      <p:regular r:id="rId17"/>
      <p:bold r:id="rId18"/>
      <p:italic r:id="rId19"/>
      <p:boldItalic r:id="rId20"/>
    </p:embeddedFont>
    <p:embeddedFont>
      <p:font typeface="Oswald"/>
      <p:regular r:id="rId21"/>
      <p:bold r:id="rId22"/>
    </p:embeddedFont>
    <p:embeddedFont>
      <p:font typeface="Helvetica Neue Ligh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i5Om0sBEkt2OJEuIy5kNR518JN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FC55A1-5554-4A52-BB5C-5ACA8C9D7ADF}">
  <a:tblStyle styleId="{3CFC55A1-5554-4A52-BB5C-5ACA8C9D7AD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9748060-A827-4AAB-AB8C-AF5024B48804}"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Italic.fntdata"/><Relationship Id="rId22" Type="http://schemas.openxmlformats.org/officeDocument/2006/relationships/font" Target="fonts/Oswald-bold.fntdata"/><Relationship Id="rId21" Type="http://schemas.openxmlformats.org/officeDocument/2006/relationships/font" Target="fonts/Oswald-regular.fntdata"/><Relationship Id="rId24" Type="http://schemas.openxmlformats.org/officeDocument/2006/relationships/font" Target="fonts/HelveticaNeueLight-bold.fntdata"/><Relationship Id="rId23" Type="http://schemas.openxmlformats.org/officeDocument/2006/relationships/font" Target="fonts/HelveticaNeueLight-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HelveticaNeueLight-boldItalic.fntdata"/><Relationship Id="rId25" Type="http://schemas.openxmlformats.org/officeDocument/2006/relationships/font" Target="fonts/HelveticaNeueLight-italic.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HelveticaNeue-regular.fntdata"/><Relationship Id="rId16" Type="http://schemas.openxmlformats.org/officeDocument/2006/relationships/font" Target="fonts/Average-regular.fntdata"/><Relationship Id="rId19" Type="http://schemas.openxmlformats.org/officeDocument/2006/relationships/font" Target="fonts/HelveticaNeue-italic.fntdata"/><Relationship Id="rId18"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sp>
        <p:nvSpPr>
          <p:cNvPr id="55" name="Google Shape;55;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6" name="Google Shape;56;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3"/>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0" name="Google Shape;60;p1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grpSp>
        <p:nvGrpSpPr>
          <p:cNvPr id="62" name="Google Shape;62;p24"/>
          <p:cNvGrpSpPr/>
          <p:nvPr/>
        </p:nvGrpSpPr>
        <p:grpSpPr>
          <a:xfrm>
            <a:off x="4350279" y="2855377"/>
            <a:ext cx="443589" cy="105632"/>
            <a:chOff x="4137525" y="2915950"/>
            <a:chExt cx="869100" cy="207000"/>
          </a:xfrm>
        </p:grpSpPr>
        <p:sp>
          <p:nvSpPr>
            <p:cNvPr id="63" name="Google Shape;63;p24"/>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4"/>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4"/>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24"/>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7" name="Google Shape;67;p24"/>
          <p:cNvSpPr txBox="1"/>
          <p:nvPr>
            <p:ph idx="1" type="subTitle"/>
          </p:nvPr>
        </p:nvSpPr>
        <p:spPr>
          <a:xfrm>
            <a:off x="671250" y="3174876"/>
            <a:ext cx="7801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8" name="Google Shape;68;p2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1" name="Google Shape;71;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2" name="Google Shape;72;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3" name="Google Shape;73;p2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6" name="Google Shape;76;p2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9" name="Google Shape;79;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0" name="Google Shape;80;p2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1" name="Shape 81"/>
        <p:cNvGrpSpPr/>
        <p:nvPr/>
      </p:nvGrpSpPr>
      <p:grpSpPr>
        <a:xfrm>
          <a:off x="0" y="0"/>
          <a:ext cx="0" cy="0"/>
          <a:chOff x="0" y="0"/>
          <a:chExt cx="0" cy="0"/>
        </a:xfrm>
      </p:grpSpPr>
      <p:sp>
        <p:nvSpPr>
          <p:cNvPr id="82" name="Google Shape;82;p28"/>
          <p:cNvSpPr txBox="1"/>
          <p:nvPr>
            <p:ph type="title"/>
          </p:nvPr>
        </p:nvSpPr>
        <p:spPr>
          <a:xfrm>
            <a:off x="490250" y="526350"/>
            <a:ext cx="62271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83" name="Google Shape;83;p2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6" name="Google Shape;86;p2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7" name="Google Shape;87;p29"/>
          <p:cNvSpPr txBox="1"/>
          <p:nvPr>
            <p:ph type="title"/>
          </p:nvPr>
        </p:nvSpPr>
        <p:spPr>
          <a:xfrm>
            <a:off x="265500" y="1081400"/>
            <a:ext cx="4045200" cy="1710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8" name="Google Shape;88;p29"/>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9" name="Google Shape;89;p2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90" name="Google Shape;90;p2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93" name="Google Shape;93;p3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31"/>
          <p:cNvSpPr txBox="1"/>
          <p:nvPr>
            <p:ph hasCustomPrompt="1" type="title"/>
          </p:nvPr>
        </p:nvSpPr>
        <p:spPr>
          <a:xfrm>
            <a:off x="311700" y="1255275"/>
            <a:ext cx="8520600" cy="1890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6" name="Google Shape;96;p31"/>
          <p:cNvSpPr txBox="1"/>
          <p:nvPr>
            <p:ph idx="1" type="body"/>
          </p:nvPr>
        </p:nvSpPr>
        <p:spPr>
          <a:xfrm>
            <a:off x="311700" y="32284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7" name="Google Shape;97;p3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3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0" name="Shape 50"/>
        <p:cNvGrpSpPr/>
        <p:nvPr/>
      </p:nvGrpSpPr>
      <p:grpSpPr>
        <a:xfrm>
          <a:off x="0" y="0"/>
          <a:ext cx="0" cy="0"/>
          <a:chOff x="0" y="0"/>
          <a:chExt cx="0" cy="0"/>
        </a:xfrm>
      </p:grpSpPr>
      <p:sp>
        <p:nvSpPr>
          <p:cNvPr id="51" name="Google Shape;5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2pPr>
            <a:lvl3pPr lvl="2"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3pPr>
            <a:lvl4pPr lvl="3"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4pPr>
            <a:lvl5pPr lvl="4"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5pPr>
            <a:lvl6pPr lvl="5"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6pPr>
            <a:lvl7pPr lvl="6"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7pPr>
            <a:lvl8pPr lvl="7"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8pPr>
            <a:lvl9pPr lvl="8"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9pPr>
          </a:lstStyle>
          <a:p/>
        </p:txBody>
      </p:sp>
      <p:sp>
        <p:nvSpPr>
          <p:cNvPr id="52" name="Google Shape;52;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Average"/>
              <a:buChar char="●"/>
              <a:defRPr b="0" i="0" sz="1800" u="none" cap="none" strike="noStrike">
                <a:solidFill>
                  <a:schemeClr val="accent3"/>
                </a:solidFill>
                <a:latin typeface="Average"/>
                <a:ea typeface="Average"/>
                <a:cs typeface="Average"/>
                <a:sym typeface="Average"/>
              </a:defRPr>
            </a:lvl1pPr>
            <a:lvl2pPr indent="-317500" lvl="1" marL="914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2pPr>
            <a:lvl3pPr indent="-317500" lvl="2" marL="1371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3pPr>
            <a:lvl4pPr indent="-317500" lvl="3" marL="1828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4pPr>
            <a:lvl5pPr indent="-317500" lvl="4" marL="22860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5pPr>
            <a:lvl6pPr indent="-317500" lvl="5" marL="27432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6pPr>
            <a:lvl7pPr indent="-317500" lvl="6" marL="3200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7pPr>
            <a:lvl8pPr indent="-317500" lvl="7" marL="3657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8pPr>
            <a:lvl9pPr indent="-317500" lvl="8" marL="4114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9pPr>
          </a:lstStyle>
          <a:p/>
        </p:txBody>
      </p:sp>
      <p:sp>
        <p:nvSpPr>
          <p:cNvPr id="53" name="Google Shape;53;p1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jpg"/><Relationship Id="rId5" Type="http://schemas.openxmlformats.org/officeDocument/2006/relationships/image" Target="../media/image13.jp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jpg"/><Relationship Id="rId5" Type="http://schemas.openxmlformats.org/officeDocument/2006/relationships/image" Target="../media/image12.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3.jp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7474F"/>
        </a:solidFill>
      </p:bgPr>
    </p:bg>
    <p:spTree>
      <p:nvGrpSpPr>
        <p:cNvPr id="103" name="Shape 103"/>
        <p:cNvGrpSpPr/>
        <p:nvPr/>
      </p:nvGrpSpPr>
      <p:grpSpPr>
        <a:xfrm>
          <a:off x="0" y="0"/>
          <a:ext cx="0" cy="0"/>
          <a:chOff x="0" y="0"/>
          <a:chExt cx="0" cy="0"/>
        </a:xfrm>
      </p:grpSpPr>
      <p:pic>
        <p:nvPicPr>
          <p:cNvPr id="104" name="Google Shape;104;p1"/>
          <p:cNvPicPr preferRelativeResize="0"/>
          <p:nvPr/>
        </p:nvPicPr>
        <p:blipFill rotWithShape="1">
          <a:blip r:embed="rId3">
            <a:alphaModFix amt="10000"/>
          </a:blip>
          <a:srcRect b="12500" l="0" r="0" t="12500"/>
          <a:stretch/>
        </p:blipFill>
        <p:spPr>
          <a:xfrm>
            <a:off x="0" y="0"/>
            <a:ext cx="9144000" cy="5143500"/>
          </a:xfrm>
          <a:prstGeom prst="rect">
            <a:avLst/>
          </a:prstGeom>
          <a:noFill/>
          <a:ln>
            <a:noFill/>
          </a:ln>
        </p:spPr>
      </p:pic>
      <p:sp>
        <p:nvSpPr>
          <p:cNvPr id="105" name="Google Shape;105;p1"/>
          <p:cNvSpPr txBox="1"/>
          <p:nvPr>
            <p:ph type="ctrTitle"/>
          </p:nvPr>
        </p:nvSpPr>
        <p:spPr>
          <a:xfrm>
            <a:off x="311700" y="0"/>
            <a:ext cx="8520600" cy="1669200"/>
          </a:xfrm>
          <a:prstGeom prst="rect">
            <a:avLst/>
          </a:prstGeom>
          <a:noFill/>
          <a:ln>
            <a:noFill/>
          </a:ln>
          <a:effectLst>
            <a:outerShdw blurRad="57150" rotWithShape="0" algn="bl" dir="5400000" dist="19050">
              <a:srgbClr val="000000">
                <a:alpha val="49803"/>
              </a:srgbClr>
            </a:outerShdw>
          </a:effectLst>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n" sz="4800">
                <a:solidFill>
                  <a:schemeClr val="lt1"/>
                </a:solidFill>
                <a:latin typeface="Oswald"/>
                <a:ea typeface="Oswald"/>
                <a:cs typeface="Oswald"/>
                <a:sym typeface="Oswald"/>
              </a:rPr>
              <a:t>Semester Project Presentation</a:t>
            </a:r>
            <a:endParaRPr>
              <a:latin typeface="Oswald"/>
              <a:ea typeface="Oswald"/>
              <a:cs typeface="Oswald"/>
              <a:sym typeface="Oswald"/>
            </a:endParaRPr>
          </a:p>
        </p:txBody>
      </p:sp>
      <p:sp>
        <p:nvSpPr>
          <p:cNvPr id="106" name="Google Shape;106;p1"/>
          <p:cNvSpPr txBox="1"/>
          <p:nvPr>
            <p:ph idx="1" type="subTitle"/>
          </p:nvPr>
        </p:nvSpPr>
        <p:spPr>
          <a:xfrm>
            <a:off x="311700" y="16692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n" sz="2100">
                <a:solidFill>
                  <a:srgbClr val="CACACA"/>
                </a:solidFill>
                <a:latin typeface="Helvetica Neue Light"/>
                <a:ea typeface="Helvetica Neue Light"/>
                <a:cs typeface="Helvetica Neue Light"/>
                <a:sym typeface="Helvetica Neue Light"/>
              </a:rPr>
              <a:t>Cody Hum     Alberto Rosas     Dang Tran</a:t>
            </a:r>
            <a:endParaRPr sz="2100">
              <a:solidFill>
                <a:srgbClr val="EDF2FA"/>
              </a:solidFill>
              <a:latin typeface="Helvetica Neue Light"/>
              <a:ea typeface="Helvetica Neue Light"/>
              <a:cs typeface="Helvetica Neue Light"/>
              <a:sym typeface="Helvetica Neue Light"/>
            </a:endParaRPr>
          </a:p>
        </p:txBody>
      </p:sp>
      <p:pic>
        <p:nvPicPr>
          <p:cNvPr id="107" name="Google Shape;107;p1" title="IMG_5180.JPG"/>
          <p:cNvPicPr preferRelativeResize="0"/>
          <p:nvPr/>
        </p:nvPicPr>
        <p:blipFill rotWithShape="1">
          <a:blip r:embed="rId4">
            <a:alphaModFix/>
          </a:blip>
          <a:srcRect b="0" l="0" r="0" t="0"/>
          <a:stretch/>
        </p:blipFill>
        <p:spPr>
          <a:xfrm rot="-258740">
            <a:off x="378816" y="2565850"/>
            <a:ext cx="2838721" cy="1892025"/>
          </a:xfrm>
          <a:prstGeom prst="rect">
            <a:avLst/>
          </a:prstGeom>
          <a:noFill/>
          <a:ln cap="flat" cmpd="sng" w="28575">
            <a:solidFill>
              <a:schemeClr val="lt1"/>
            </a:solidFill>
            <a:prstDash val="solid"/>
            <a:round/>
            <a:headEnd len="sm" w="sm" type="none"/>
            <a:tailEnd len="sm" w="sm" type="none"/>
          </a:ln>
          <a:effectLst>
            <a:outerShdw blurRad="57150" rotWithShape="0" algn="bl" dir="5400000" dist="19050">
              <a:srgbClr val="000000">
                <a:alpha val="49803"/>
              </a:srgbClr>
            </a:outerShdw>
          </a:effectLst>
        </p:spPr>
      </p:pic>
      <p:pic>
        <p:nvPicPr>
          <p:cNvPr id="108" name="Google Shape;108;p1" title="IMG_2763.jpg"/>
          <p:cNvPicPr preferRelativeResize="0"/>
          <p:nvPr/>
        </p:nvPicPr>
        <p:blipFill rotWithShape="1">
          <a:blip r:embed="rId5">
            <a:alphaModFix/>
          </a:blip>
          <a:srcRect b="0" l="0" r="0" t="0"/>
          <a:stretch/>
        </p:blipFill>
        <p:spPr>
          <a:xfrm>
            <a:off x="3088288" y="2571738"/>
            <a:ext cx="2967424" cy="1669176"/>
          </a:xfrm>
          <a:prstGeom prst="rect">
            <a:avLst/>
          </a:prstGeom>
          <a:noFill/>
          <a:ln cap="flat" cmpd="sng" w="28575">
            <a:solidFill>
              <a:schemeClr val="lt1"/>
            </a:solidFill>
            <a:prstDash val="solid"/>
            <a:round/>
            <a:headEnd len="sm" w="sm" type="none"/>
            <a:tailEnd len="sm" w="sm" type="none"/>
          </a:ln>
          <a:effectLst>
            <a:outerShdw blurRad="57150" rotWithShape="0" algn="bl" dir="5400000" dist="19050">
              <a:srgbClr val="000000">
                <a:alpha val="49803"/>
              </a:srgbClr>
            </a:outerShdw>
          </a:effectLst>
        </p:spPr>
      </p:pic>
      <p:pic>
        <p:nvPicPr>
          <p:cNvPr id="109" name="Google Shape;109;p1" title="IMG_2771.jpg"/>
          <p:cNvPicPr preferRelativeResize="0"/>
          <p:nvPr/>
        </p:nvPicPr>
        <p:blipFill rotWithShape="1">
          <a:blip r:embed="rId6">
            <a:alphaModFix/>
          </a:blip>
          <a:srcRect b="0" l="0" r="0" t="0"/>
          <a:stretch/>
        </p:blipFill>
        <p:spPr>
          <a:xfrm rot="214551">
            <a:off x="5803101" y="2777175"/>
            <a:ext cx="2967426" cy="1669177"/>
          </a:xfrm>
          <a:prstGeom prst="rect">
            <a:avLst/>
          </a:prstGeom>
          <a:noFill/>
          <a:ln cap="flat" cmpd="sng" w="28575">
            <a:solidFill>
              <a:schemeClr val="lt1"/>
            </a:solidFill>
            <a:prstDash val="solid"/>
            <a:round/>
            <a:headEnd len="sm" w="sm" type="none"/>
            <a:tailEnd len="sm" w="sm" type="none"/>
          </a:ln>
          <a:effectLst>
            <a:outerShdw blurRad="57150" rotWithShape="0" algn="bl" dir="5400000" dist="19050">
              <a:srgbClr val="000000">
                <a:alpha val="49803"/>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
          <p:cNvPicPr preferRelativeResize="0"/>
          <p:nvPr/>
        </p:nvPicPr>
        <p:blipFill rotWithShape="1">
          <a:blip r:embed="rId3">
            <a:alphaModFix amt="5000"/>
          </a:blip>
          <a:srcRect b="12500" l="0" r="0" t="12500"/>
          <a:stretch/>
        </p:blipFill>
        <p:spPr>
          <a:xfrm>
            <a:off x="0" y="0"/>
            <a:ext cx="9144000" cy="5143500"/>
          </a:xfrm>
          <a:prstGeom prst="rect">
            <a:avLst/>
          </a:prstGeom>
          <a:noFill/>
          <a:ln>
            <a:noFill/>
          </a:ln>
        </p:spPr>
      </p:pic>
      <p:sp>
        <p:nvSpPr>
          <p:cNvPr id="115" name="Google Shape;115;p2"/>
          <p:cNvSpPr txBox="1"/>
          <p:nvPr/>
        </p:nvSpPr>
        <p:spPr>
          <a:xfrm>
            <a:off x="0" y="136675"/>
            <a:ext cx="9144000" cy="1015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Oswald"/>
                <a:ea typeface="Oswald"/>
                <a:cs typeface="Oswald"/>
                <a:sym typeface="Oswald"/>
              </a:rPr>
              <a:t>DIY Hand Gestures Controlled Car </a:t>
            </a:r>
            <a:endParaRPr b="0" i="0" sz="2700" u="none" cap="none" strike="noStrike">
              <a:solidFill>
                <a:schemeClr val="dk1"/>
              </a:solidFill>
              <a:latin typeface="Oswald"/>
              <a:ea typeface="Oswald"/>
              <a:cs typeface="Oswald"/>
              <a:sym typeface="Oswald"/>
            </a:endParaRPr>
          </a:p>
          <a:p>
            <a:pPr indent="0" lvl="0" marL="0" marR="0" rtl="0" algn="ctr">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Oswald"/>
                <a:ea typeface="Oswald"/>
                <a:cs typeface="Oswald"/>
                <a:sym typeface="Oswald"/>
              </a:rPr>
              <a:t>Using Arduino</a:t>
            </a:r>
            <a:endParaRPr b="0" i="0" sz="1400" u="none" cap="none" strike="noStrike">
              <a:solidFill>
                <a:srgbClr val="000000"/>
              </a:solidFill>
              <a:latin typeface="Arial"/>
              <a:ea typeface="Arial"/>
              <a:cs typeface="Arial"/>
              <a:sym typeface="Arial"/>
            </a:endParaRPr>
          </a:p>
        </p:txBody>
      </p:sp>
      <p:graphicFrame>
        <p:nvGraphicFramePr>
          <p:cNvPr id="116" name="Google Shape;116;p2"/>
          <p:cNvGraphicFramePr/>
          <p:nvPr/>
        </p:nvGraphicFramePr>
        <p:xfrm>
          <a:off x="311700" y="1152475"/>
          <a:ext cx="3000000" cy="3000000"/>
        </p:xfrm>
        <a:graphic>
          <a:graphicData uri="http://schemas.openxmlformats.org/drawingml/2006/table">
            <a:tbl>
              <a:tblPr>
                <a:noFill/>
                <a:tableStyleId>{3CFC55A1-5554-4A52-BB5C-5ACA8C9D7ADF}</a:tableStyleId>
              </a:tblPr>
              <a:tblGrid>
                <a:gridCol w="4260300"/>
                <a:gridCol w="4260300"/>
              </a:tblGrid>
              <a:tr h="381000">
                <a:tc>
                  <a:txBody>
                    <a:bodyPr/>
                    <a:lstStyle/>
                    <a:p>
                      <a:pPr indent="0" lvl="0" marL="0" marR="0" rtl="0" algn="ctr">
                        <a:lnSpc>
                          <a:spcPct val="100000"/>
                        </a:lnSpc>
                        <a:spcBef>
                          <a:spcPts val="0"/>
                        </a:spcBef>
                        <a:spcAft>
                          <a:spcPts val="0"/>
                        </a:spcAft>
                        <a:buClr>
                          <a:srgbClr val="000000"/>
                        </a:buClr>
                        <a:buSzPts val="1800"/>
                        <a:buFont typeface="Arial"/>
                        <a:buNone/>
                      </a:pPr>
                      <a:r>
                        <a:rPr b="1" lang="en" sz="1800" u="none" cap="none" strike="noStrike">
                          <a:solidFill>
                            <a:schemeClr val="dk1"/>
                          </a:solidFill>
                          <a:latin typeface="Helvetica Neue"/>
                          <a:ea typeface="Helvetica Neue"/>
                          <a:cs typeface="Helvetica Neue"/>
                          <a:sym typeface="Helvetica Neue"/>
                        </a:rPr>
                        <a:t>What does it do?</a:t>
                      </a:r>
                      <a:endParaRPr b="1" sz="1800" u="none" cap="none" strike="noStrike">
                        <a:solidFill>
                          <a:schemeClr val="dk1"/>
                        </a:solidFill>
                        <a:latin typeface="Helvetica Neue"/>
                        <a:ea typeface="Helvetica Neue"/>
                        <a:cs typeface="Helvetica Neue"/>
                        <a:sym typeface="Helvetica Neue"/>
                      </a:endParaRPr>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 sz="1800" u="none" cap="none" strike="noStrike">
                          <a:solidFill>
                            <a:schemeClr val="dk1"/>
                          </a:solidFill>
                          <a:latin typeface="Helvetica Neue"/>
                          <a:ea typeface="Helvetica Neue"/>
                          <a:cs typeface="Helvetica Neue"/>
                          <a:sym typeface="Helvetica Neue"/>
                        </a:rPr>
                        <a:t>Specifications</a:t>
                      </a:r>
                      <a:endParaRPr b="1" sz="18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783825">
                <a:tc>
                  <a:txBody>
                    <a:bodyPr/>
                    <a:lstStyle/>
                    <a:p>
                      <a:pPr indent="0" lvl="0" marL="0" marR="0" rtl="0" algn="l">
                        <a:lnSpc>
                          <a:spcPct val="100000"/>
                        </a:lnSpc>
                        <a:spcBef>
                          <a:spcPts val="0"/>
                        </a:spcBef>
                        <a:spcAft>
                          <a:spcPts val="0"/>
                        </a:spcAft>
                        <a:buClr>
                          <a:srgbClr val="000000"/>
                        </a:buClr>
                        <a:buSzPts val="1800"/>
                        <a:buFont typeface="Arial"/>
                        <a:buNone/>
                      </a:pPr>
                      <a:r>
                        <a:rPr lang="en" sz="1800" u="none" cap="none" strike="noStrike">
                          <a:solidFill>
                            <a:schemeClr val="accent3"/>
                          </a:solidFill>
                          <a:latin typeface="Helvetica Neue Light"/>
                          <a:ea typeface="Helvetica Neue Light"/>
                          <a:cs typeface="Helvetica Neue Light"/>
                          <a:sym typeface="Helvetica Neue Light"/>
                        </a:rPr>
                        <a:t>The car is controlled remotely through hand gestures. The transceiver transmits the acceleration of the motion and the coordinates based on its position in the XY axis. The receiver retrieves the data and the UNO R3 signals which motor on the car to drive. </a:t>
                      </a:r>
                      <a:endParaRPr sz="1800" u="none" cap="none" strike="noStrike">
                        <a:solidFill>
                          <a:schemeClr val="accent3"/>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accent3"/>
                        </a:buClr>
                        <a:buSzPts val="1600"/>
                        <a:buFont typeface="Helvetica Neue Light"/>
                        <a:buChar char="●"/>
                      </a:pPr>
                      <a:r>
                        <a:rPr lang="en" sz="1600" u="none" cap="none" strike="noStrike">
                          <a:solidFill>
                            <a:schemeClr val="accent3"/>
                          </a:solidFill>
                          <a:latin typeface="Helvetica Neue Light"/>
                          <a:ea typeface="Helvetica Neue Light"/>
                          <a:cs typeface="Helvetica Neue Light"/>
                          <a:sym typeface="Helvetica Neue Light"/>
                        </a:rPr>
                        <a:t>Hand rolls forward → car moves forward</a:t>
                      </a:r>
                      <a:endParaRPr sz="1600" u="none" cap="none" strike="noStrike">
                        <a:solidFill>
                          <a:schemeClr val="accent3"/>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accent3"/>
                        </a:buClr>
                        <a:buSzPts val="1600"/>
                        <a:buFont typeface="Helvetica Neue Light"/>
                        <a:buChar char="●"/>
                      </a:pPr>
                      <a:r>
                        <a:rPr lang="en" sz="1600" u="none" cap="none" strike="noStrike">
                          <a:solidFill>
                            <a:schemeClr val="accent3"/>
                          </a:solidFill>
                          <a:latin typeface="Helvetica Neue Light"/>
                          <a:ea typeface="Helvetica Neue Light"/>
                          <a:cs typeface="Helvetica Neue Light"/>
                          <a:sym typeface="Helvetica Neue Light"/>
                        </a:rPr>
                        <a:t>Hand rolls back → car moves in reverse</a:t>
                      </a:r>
                      <a:endParaRPr sz="1600" u="none" cap="none" strike="noStrike">
                        <a:solidFill>
                          <a:schemeClr val="accent3"/>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accent3"/>
                        </a:buClr>
                        <a:buSzPts val="1600"/>
                        <a:buFont typeface="Helvetica Neue Light"/>
                        <a:buChar char="●"/>
                      </a:pPr>
                      <a:r>
                        <a:rPr lang="en" sz="1600" u="none" cap="none" strike="noStrike">
                          <a:solidFill>
                            <a:schemeClr val="accent3"/>
                          </a:solidFill>
                          <a:latin typeface="Helvetica Neue Light"/>
                          <a:ea typeface="Helvetica Neue Light"/>
                          <a:cs typeface="Helvetica Neue Light"/>
                          <a:sym typeface="Helvetica Neue Light"/>
                        </a:rPr>
                        <a:t>Hand rolls left → car spins to the left</a:t>
                      </a:r>
                      <a:endParaRPr sz="1600" u="none" cap="none" strike="noStrike">
                        <a:solidFill>
                          <a:schemeClr val="accent3"/>
                        </a:solidFill>
                        <a:latin typeface="Helvetica Neue Light"/>
                        <a:ea typeface="Helvetica Neue Light"/>
                        <a:cs typeface="Helvetica Neue Light"/>
                        <a:sym typeface="Helvetica Neue Light"/>
                      </a:endParaRPr>
                    </a:p>
                    <a:p>
                      <a:pPr indent="-330200" lvl="0" marL="457200" marR="0" rtl="0" algn="l">
                        <a:lnSpc>
                          <a:spcPct val="100000"/>
                        </a:lnSpc>
                        <a:spcBef>
                          <a:spcPts val="0"/>
                        </a:spcBef>
                        <a:spcAft>
                          <a:spcPts val="0"/>
                        </a:spcAft>
                        <a:buClr>
                          <a:schemeClr val="accent3"/>
                        </a:buClr>
                        <a:buSzPts val="1600"/>
                        <a:buFont typeface="Helvetica Neue Light"/>
                        <a:buChar char="●"/>
                      </a:pPr>
                      <a:r>
                        <a:rPr lang="en" sz="1600" u="none" cap="none" strike="noStrike">
                          <a:solidFill>
                            <a:schemeClr val="accent3"/>
                          </a:solidFill>
                          <a:latin typeface="Helvetica Neue Light"/>
                          <a:ea typeface="Helvetica Neue Light"/>
                          <a:cs typeface="Helvetica Neue Light"/>
                          <a:sym typeface="Helvetica Neue Light"/>
                        </a:rPr>
                        <a:t>Hand rolls right → car spins to the right</a:t>
                      </a:r>
                      <a:endParaRPr sz="2000" u="none" cap="none" strike="noStrike">
                        <a:solidFill>
                          <a:schemeClr val="accent3"/>
                        </a:solidFill>
                        <a:latin typeface="Helvetica Neue Light"/>
                        <a:ea typeface="Helvetica Neue Light"/>
                        <a:cs typeface="Helvetica Neue Light"/>
                        <a:sym typeface="Helvetica Neue Light"/>
                      </a:endParaRPr>
                    </a:p>
                  </a:txBody>
                  <a:tcPr marT="91425" marB="91425" marR="91425" marL="91425">
                    <a:lnR cap="flat" cmpd="sng" w="9525">
                      <a:solidFill>
                        <a:srgbClr val="9E9E9E"/>
                      </a:solidFill>
                      <a:prstDash val="solid"/>
                      <a:round/>
                      <a:headEnd len="sm" w="sm" type="none"/>
                      <a:tailEnd len="sm" w="sm" type="none"/>
                    </a:lnR>
                  </a:tcPr>
                </a:tc>
                <a:tc>
                  <a:txBody>
                    <a:bodyPr/>
                    <a:lstStyle/>
                    <a:p>
                      <a:pPr indent="-342900" lvl="0" marL="457200" marR="0" rtl="0" algn="l">
                        <a:lnSpc>
                          <a:spcPct val="115000"/>
                        </a:lnSpc>
                        <a:spcBef>
                          <a:spcPts val="0"/>
                        </a:spcBef>
                        <a:spcAft>
                          <a:spcPts val="0"/>
                        </a:spcAft>
                        <a:buClr>
                          <a:schemeClr val="accent3"/>
                        </a:buClr>
                        <a:buSzPts val="1800"/>
                        <a:buFont typeface="Helvetica Neue Light"/>
                        <a:buChar char="●"/>
                      </a:pPr>
                      <a:r>
                        <a:rPr lang="en" sz="1800" u="none" cap="none" strike="noStrike">
                          <a:solidFill>
                            <a:schemeClr val="accent3"/>
                          </a:solidFill>
                          <a:latin typeface="Helvetica Neue Light"/>
                          <a:ea typeface="Helvetica Neue Light"/>
                          <a:cs typeface="Helvetica Neue Light"/>
                          <a:sym typeface="Helvetica Neue Light"/>
                        </a:rPr>
                        <a:t>Arduino Uno R3</a:t>
                      </a:r>
                      <a:endParaRPr sz="1800" u="none" cap="none" strike="noStrike">
                        <a:solidFill>
                          <a:schemeClr val="accent3"/>
                        </a:solidFill>
                        <a:latin typeface="Helvetica Neue Light"/>
                        <a:ea typeface="Helvetica Neue Light"/>
                        <a:cs typeface="Helvetica Neue Light"/>
                        <a:sym typeface="Helvetica Neue Light"/>
                      </a:endParaRPr>
                    </a:p>
                    <a:p>
                      <a:pPr indent="-342900" lvl="0" marL="457200" marR="0" rtl="0" algn="l">
                        <a:lnSpc>
                          <a:spcPct val="115000"/>
                        </a:lnSpc>
                        <a:spcBef>
                          <a:spcPts val="0"/>
                        </a:spcBef>
                        <a:spcAft>
                          <a:spcPts val="0"/>
                        </a:spcAft>
                        <a:buClr>
                          <a:schemeClr val="accent3"/>
                        </a:buClr>
                        <a:buSzPts val="1800"/>
                        <a:buFont typeface="Helvetica Neue Light"/>
                        <a:buChar char="●"/>
                      </a:pPr>
                      <a:r>
                        <a:rPr lang="en" sz="1800" u="none" cap="none" strike="noStrike">
                          <a:solidFill>
                            <a:schemeClr val="accent3"/>
                          </a:solidFill>
                          <a:latin typeface="Helvetica Neue Light"/>
                          <a:ea typeface="Helvetica Neue Light"/>
                          <a:cs typeface="Helvetica Neue Light"/>
                          <a:sym typeface="Helvetica Neue Light"/>
                        </a:rPr>
                        <a:t>Arduino Mini Nano </a:t>
                      </a:r>
                      <a:endParaRPr sz="1800" u="none" cap="none" strike="noStrike">
                        <a:solidFill>
                          <a:schemeClr val="accent3"/>
                        </a:solidFill>
                        <a:latin typeface="Helvetica Neue Light"/>
                        <a:ea typeface="Helvetica Neue Light"/>
                        <a:cs typeface="Helvetica Neue Light"/>
                        <a:sym typeface="Helvetica Neue Light"/>
                      </a:endParaRPr>
                    </a:p>
                    <a:p>
                      <a:pPr indent="-342900" lvl="0" marL="457200" marR="0" rtl="0" algn="l">
                        <a:lnSpc>
                          <a:spcPct val="115000"/>
                        </a:lnSpc>
                        <a:spcBef>
                          <a:spcPts val="0"/>
                        </a:spcBef>
                        <a:spcAft>
                          <a:spcPts val="0"/>
                        </a:spcAft>
                        <a:buClr>
                          <a:schemeClr val="accent3"/>
                        </a:buClr>
                        <a:buSzPts val="1800"/>
                        <a:buFont typeface="Helvetica Neue Light"/>
                        <a:buChar char="●"/>
                      </a:pPr>
                      <a:r>
                        <a:rPr lang="en" sz="1800" u="none" cap="none" strike="noStrike">
                          <a:solidFill>
                            <a:schemeClr val="accent3"/>
                          </a:solidFill>
                          <a:latin typeface="Helvetica Neue Light"/>
                          <a:ea typeface="Helvetica Neue Light"/>
                          <a:cs typeface="Helvetica Neue Light"/>
                          <a:sym typeface="Helvetica Neue Light"/>
                        </a:rPr>
                        <a:t>L298N Motor Driver</a:t>
                      </a:r>
                      <a:endParaRPr sz="1800" u="none" cap="none" strike="noStrike">
                        <a:solidFill>
                          <a:schemeClr val="accent3"/>
                        </a:solidFill>
                        <a:latin typeface="Helvetica Neue Light"/>
                        <a:ea typeface="Helvetica Neue Light"/>
                        <a:cs typeface="Helvetica Neue Light"/>
                        <a:sym typeface="Helvetica Neue Light"/>
                      </a:endParaRPr>
                    </a:p>
                    <a:p>
                      <a:pPr indent="-342900" lvl="0" marL="457200" marR="0" rtl="0" algn="l">
                        <a:lnSpc>
                          <a:spcPct val="115000"/>
                        </a:lnSpc>
                        <a:spcBef>
                          <a:spcPts val="0"/>
                        </a:spcBef>
                        <a:spcAft>
                          <a:spcPts val="0"/>
                        </a:spcAft>
                        <a:buClr>
                          <a:schemeClr val="accent3"/>
                        </a:buClr>
                        <a:buSzPts val="1800"/>
                        <a:buFont typeface="Helvetica Neue Light"/>
                        <a:buChar char="●"/>
                      </a:pPr>
                      <a:r>
                        <a:rPr lang="en" sz="1800" u="none" cap="none" strike="noStrike">
                          <a:solidFill>
                            <a:schemeClr val="accent3"/>
                          </a:solidFill>
                          <a:latin typeface="Helvetica Neue Light"/>
                          <a:ea typeface="Helvetica Neue Light"/>
                          <a:cs typeface="Helvetica Neue Light"/>
                          <a:sym typeface="Helvetica Neue Light"/>
                        </a:rPr>
                        <a:t>MPU6050 Accelerometer</a:t>
                      </a:r>
                      <a:endParaRPr sz="1800" u="none" cap="none" strike="noStrike">
                        <a:solidFill>
                          <a:schemeClr val="accent3"/>
                        </a:solidFill>
                        <a:latin typeface="Helvetica Neue Light"/>
                        <a:ea typeface="Helvetica Neue Light"/>
                        <a:cs typeface="Helvetica Neue Light"/>
                        <a:sym typeface="Helvetica Neue Light"/>
                      </a:endParaRPr>
                    </a:p>
                    <a:p>
                      <a:pPr indent="-342900" lvl="0" marL="457200" marR="0" rtl="0" algn="l">
                        <a:lnSpc>
                          <a:spcPct val="115000"/>
                        </a:lnSpc>
                        <a:spcBef>
                          <a:spcPts val="0"/>
                        </a:spcBef>
                        <a:spcAft>
                          <a:spcPts val="0"/>
                        </a:spcAft>
                        <a:buClr>
                          <a:schemeClr val="accent3"/>
                        </a:buClr>
                        <a:buSzPts val="1800"/>
                        <a:buFont typeface="Helvetica Neue Light"/>
                        <a:buChar char="●"/>
                      </a:pPr>
                      <a:r>
                        <a:rPr lang="en" sz="1800" u="none" cap="none" strike="noStrike">
                          <a:solidFill>
                            <a:schemeClr val="accent3"/>
                          </a:solidFill>
                          <a:latin typeface="Helvetica Neue Light"/>
                          <a:ea typeface="Helvetica Neue Light"/>
                          <a:cs typeface="Helvetica Neue Light"/>
                          <a:sym typeface="Helvetica Neue Light"/>
                        </a:rPr>
                        <a:t>nRF24L01 Transceiver Modules</a:t>
                      </a:r>
                      <a:endParaRPr sz="1800" u="none" cap="none" strike="noStrike">
                        <a:solidFill>
                          <a:schemeClr val="accent3"/>
                        </a:solidFill>
                        <a:latin typeface="Helvetica Neue Light"/>
                        <a:ea typeface="Helvetica Neue Light"/>
                        <a:cs typeface="Helvetica Neue Light"/>
                        <a:sym typeface="Helvetica Neue Light"/>
                      </a:endParaRPr>
                    </a:p>
                    <a:p>
                      <a:pPr indent="-342900" lvl="0" marL="457200" marR="0" rtl="0" algn="l">
                        <a:lnSpc>
                          <a:spcPct val="115000"/>
                        </a:lnSpc>
                        <a:spcBef>
                          <a:spcPts val="0"/>
                        </a:spcBef>
                        <a:spcAft>
                          <a:spcPts val="0"/>
                        </a:spcAft>
                        <a:buClr>
                          <a:schemeClr val="accent3"/>
                        </a:buClr>
                        <a:buSzPts val="1800"/>
                        <a:buFont typeface="Helvetica Neue Light"/>
                        <a:buChar char="●"/>
                      </a:pPr>
                      <a:r>
                        <a:rPr lang="en" sz="1800" u="none" cap="none" strike="noStrike">
                          <a:solidFill>
                            <a:schemeClr val="accent3"/>
                          </a:solidFill>
                          <a:latin typeface="Helvetica Neue Light"/>
                          <a:ea typeface="Helvetica Neue Light"/>
                          <a:cs typeface="Helvetica Neue Light"/>
                          <a:sym typeface="Helvetica Neue Light"/>
                        </a:rPr>
                        <a:t>Ion lithium battery + AA batteries</a:t>
                      </a:r>
                      <a:endParaRPr sz="1800" u="none" cap="none" strike="noStrike">
                        <a:solidFill>
                          <a:schemeClr val="accent3"/>
                        </a:solidFill>
                        <a:latin typeface="Helvetica Neue Light"/>
                        <a:ea typeface="Helvetica Neue Light"/>
                        <a:cs typeface="Helvetica Neue Light"/>
                        <a:sym typeface="Helvetica Neue 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3"/>
          <p:cNvPicPr preferRelativeResize="0"/>
          <p:nvPr/>
        </p:nvPicPr>
        <p:blipFill rotWithShape="1">
          <a:blip r:embed="rId3">
            <a:alphaModFix amt="5000"/>
          </a:blip>
          <a:srcRect b="12500" l="0" r="0" t="12500"/>
          <a:stretch/>
        </p:blipFill>
        <p:spPr>
          <a:xfrm>
            <a:off x="0" y="0"/>
            <a:ext cx="9144000" cy="5143500"/>
          </a:xfrm>
          <a:prstGeom prst="rect">
            <a:avLst/>
          </a:prstGeom>
          <a:noFill/>
          <a:ln>
            <a:noFill/>
          </a:ln>
        </p:spPr>
      </p:pic>
      <p:sp>
        <p:nvSpPr>
          <p:cNvPr id="122" name="Google Shape;122;p3"/>
          <p:cNvSpPr txBox="1"/>
          <p:nvPr/>
        </p:nvSpPr>
        <p:spPr>
          <a:xfrm>
            <a:off x="161950" y="4517950"/>
            <a:ext cx="4211100" cy="4221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accent3"/>
                </a:solidFill>
                <a:latin typeface="Helvetica Neue Light"/>
                <a:ea typeface="Helvetica Neue Light"/>
                <a:cs typeface="Helvetica Neue Light"/>
                <a:sym typeface="Helvetica Neue Light"/>
              </a:rPr>
              <a:t>Receiver R</a:t>
            </a:r>
            <a:r>
              <a:rPr b="0" baseline="-25000" i="0" lang="en" sz="1800" u="none" cap="none" strike="noStrike">
                <a:solidFill>
                  <a:schemeClr val="accent3"/>
                </a:solidFill>
                <a:latin typeface="Helvetica Neue Light"/>
                <a:ea typeface="Helvetica Neue Light"/>
                <a:cs typeface="Helvetica Neue Light"/>
                <a:sym typeface="Helvetica Neue Light"/>
              </a:rPr>
              <a:t>X</a:t>
            </a:r>
            <a:endParaRPr b="0" baseline="-25000" i="0" sz="1800" u="none" cap="none" strike="noStrike">
              <a:solidFill>
                <a:schemeClr val="accent3"/>
              </a:solidFill>
              <a:latin typeface="Helvetica Neue Light"/>
              <a:ea typeface="Helvetica Neue Light"/>
              <a:cs typeface="Helvetica Neue Light"/>
              <a:sym typeface="Helvetica Neue Light"/>
            </a:endParaRPr>
          </a:p>
        </p:txBody>
      </p:sp>
      <p:sp>
        <p:nvSpPr>
          <p:cNvPr id="123" name="Google Shape;123;p3"/>
          <p:cNvSpPr txBox="1"/>
          <p:nvPr/>
        </p:nvSpPr>
        <p:spPr>
          <a:xfrm>
            <a:off x="4424000" y="4518000"/>
            <a:ext cx="4419600" cy="4221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accent3"/>
                </a:solidFill>
                <a:latin typeface="Helvetica Neue Light"/>
                <a:ea typeface="Helvetica Neue Light"/>
                <a:cs typeface="Helvetica Neue Light"/>
                <a:sym typeface="Helvetica Neue Light"/>
              </a:rPr>
              <a:t>Transmitter T</a:t>
            </a:r>
            <a:r>
              <a:rPr b="0" baseline="-25000" i="0" lang="en" sz="1800" u="none" cap="none" strike="noStrike">
                <a:solidFill>
                  <a:schemeClr val="accent3"/>
                </a:solidFill>
                <a:latin typeface="Helvetica Neue Light"/>
                <a:ea typeface="Helvetica Neue Light"/>
                <a:cs typeface="Helvetica Neue Light"/>
                <a:sym typeface="Helvetica Neue Light"/>
              </a:rPr>
              <a:t>X</a:t>
            </a:r>
            <a:endParaRPr b="0" baseline="-25000" i="0" sz="1800" u="none" cap="none" strike="noStrike">
              <a:solidFill>
                <a:schemeClr val="accent3"/>
              </a:solidFill>
              <a:latin typeface="Helvetica Neue Light"/>
              <a:ea typeface="Helvetica Neue Light"/>
              <a:cs typeface="Helvetica Neue Light"/>
              <a:sym typeface="Helvetica Neue Light"/>
            </a:endParaRPr>
          </a:p>
        </p:txBody>
      </p:sp>
      <p:sp>
        <p:nvSpPr>
          <p:cNvPr id="124" name="Google Shape;124;p3"/>
          <p:cNvSpPr txBox="1"/>
          <p:nvPr>
            <p:ph type="title"/>
          </p:nvPr>
        </p:nvSpPr>
        <p:spPr>
          <a:xfrm>
            <a:off x="311700" y="73425"/>
            <a:ext cx="8520600" cy="572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Block Diagrams</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pic>
        <p:nvPicPr>
          <p:cNvPr id="125" name="Google Shape;125;p3"/>
          <p:cNvPicPr preferRelativeResize="0"/>
          <p:nvPr/>
        </p:nvPicPr>
        <p:blipFill rotWithShape="1">
          <a:blip r:embed="rId4">
            <a:alphaModFix/>
          </a:blip>
          <a:srcRect b="0" l="0" r="0" t="0"/>
          <a:stretch/>
        </p:blipFill>
        <p:spPr>
          <a:xfrm>
            <a:off x="658713" y="722325"/>
            <a:ext cx="3217574" cy="3851250"/>
          </a:xfrm>
          <a:prstGeom prst="rect">
            <a:avLst/>
          </a:prstGeom>
          <a:noFill/>
          <a:ln>
            <a:noFill/>
          </a:ln>
        </p:spPr>
      </p:pic>
      <p:pic>
        <p:nvPicPr>
          <p:cNvPr id="126" name="Google Shape;126;p3"/>
          <p:cNvPicPr preferRelativeResize="0"/>
          <p:nvPr/>
        </p:nvPicPr>
        <p:blipFill rotWithShape="1">
          <a:blip r:embed="rId5">
            <a:alphaModFix/>
          </a:blip>
          <a:srcRect b="0" l="0" r="0" t="0"/>
          <a:stretch/>
        </p:blipFill>
        <p:spPr>
          <a:xfrm>
            <a:off x="4840442" y="722325"/>
            <a:ext cx="3586721" cy="38512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4"/>
          <p:cNvPicPr preferRelativeResize="0"/>
          <p:nvPr/>
        </p:nvPicPr>
        <p:blipFill rotWithShape="1">
          <a:blip r:embed="rId3">
            <a:alphaModFix amt="5000"/>
          </a:blip>
          <a:srcRect b="12500" l="0" r="0" t="12500"/>
          <a:stretch/>
        </p:blipFill>
        <p:spPr>
          <a:xfrm>
            <a:off x="0" y="0"/>
            <a:ext cx="9144000" cy="5143500"/>
          </a:xfrm>
          <a:prstGeom prst="rect">
            <a:avLst/>
          </a:prstGeom>
          <a:noFill/>
          <a:ln>
            <a:noFill/>
          </a:ln>
        </p:spPr>
      </p:pic>
      <p:sp>
        <p:nvSpPr>
          <p:cNvPr id="132" name="Google Shape;132;p4"/>
          <p:cNvSpPr/>
          <p:nvPr/>
        </p:nvSpPr>
        <p:spPr>
          <a:xfrm>
            <a:off x="252625" y="729525"/>
            <a:ext cx="3228900" cy="4251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dk1"/>
              </a:highlight>
              <a:latin typeface="Average"/>
              <a:ea typeface="Average"/>
              <a:cs typeface="Average"/>
              <a:sym typeface="Average"/>
            </a:endParaRPr>
          </a:p>
        </p:txBody>
      </p:sp>
      <p:sp>
        <p:nvSpPr>
          <p:cNvPr id="133" name="Google Shape;133;p4"/>
          <p:cNvSpPr txBox="1"/>
          <p:nvPr>
            <p:ph type="title"/>
          </p:nvPr>
        </p:nvSpPr>
        <p:spPr>
          <a:xfrm>
            <a:off x="311700" y="156825"/>
            <a:ext cx="8520600" cy="572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BOM (Bill of Materials)</a:t>
            </a:r>
            <a:endParaRPr/>
          </a:p>
        </p:txBody>
      </p:sp>
      <p:pic>
        <p:nvPicPr>
          <p:cNvPr id="134" name="Google Shape;134;p4" title="Chart"/>
          <p:cNvPicPr preferRelativeResize="0"/>
          <p:nvPr/>
        </p:nvPicPr>
        <p:blipFill rotWithShape="1">
          <a:blip r:embed="rId4">
            <a:alphaModFix/>
          </a:blip>
          <a:srcRect b="0" l="0" r="0" t="0"/>
          <a:stretch/>
        </p:blipFill>
        <p:spPr>
          <a:xfrm>
            <a:off x="3593000" y="1227275"/>
            <a:ext cx="5298426" cy="3276201"/>
          </a:xfrm>
          <a:prstGeom prst="rect">
            <a:avLst/>
          </a:prstGeom>
          <a:noFill/>
          <a:ln>
            <a:noFill/>
          </a:ln>
          <a:effectLst>
            <a:outerShdw blurRad="57150" rotWithShape="0" algn="bl" dir="5400000" dist="19050">
              <a:srgbClr val="000000">
                <a:alpha val="49803"/>
              </a:srgbClr>
            </a:outerShdw>
          </a:effectLst>
        </p:spPr>
      </p:pic>
      <p:graphicFrame>
        <p:nvGraphicFramePr>
          <p:cNvPr id="135" name="Google Shape;135;p4"/>
          <p:cNvGraphicFramePr/>
          <p:nvPr/>
        </p:nvGraphicFramePr>
        <p:xfrm>
          <a:off x="376413" y="853725"/>
          <a:ext cx="3000000" cy="3000000"/>
        </p:xfrm>
        <a:graphic>
          <a:graphicData uri="http://schemas.openxmlformats.org/drawingml/2006/table">
            <a:tbl>
              <a:tblPr>
                <a:noFill/>
                <a:tableStyleId>{59748060-A827-4AAB-AB8C-AF5024B48804}</a:tableStyleId>
              </a:tblPr>
              <a:tblGrid>
                <a:gridCol w="2162175"/>
                <a:gridCol w="276225"/>
                <a:gridCol w="542925"/>
              </a:tblGrid>
              <a:tr h="20002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chemeClr val="dk1"/>
                          </a:solidFill>
                        </a:rPr>
                        <a:t>Parts/Materials</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dk1"/>
                          </a:solidFill>
                        </a:rPr>
                        <a:t>Qty</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chemeClr val="dk1"/>
                          </a:solidFill>
                        </a:rPr>
                        <a:t>Cost ($)</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DIY Robot Smart Car Chassis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21.29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1￵8￵6￵50 Rechargeable Battery</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20.99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NRF24L01+ 2.4GHz Wireless RF</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13.99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PCB Board Prototype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9.99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L298N Motor Drive Controller Board</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6.99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Header Connector Strip 20mm</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6.99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MPU6050 3 Axis Accelerometer</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6.49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18650 Battery Holder</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5.99</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UNO R3 Board ATmega328P</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Free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Mini Nano V3.0 ATmega328P</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Free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wires,button,led,1 resistor 1k</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Free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AA battery</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4</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Free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b="1" lang="en" sz="1000" u="none" cap="none" strike="noStrike">
                          <a:solidFill>
                            <a:schemeClr val="dk1"/>
                          </a:solidFill>
                        </a:rPr>
                        <a:t>Subtotal</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92.72</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b="1" lang="en" sz="1000" u="none" cap="none" strike="noStrike">
                          <a:solidFill>
                            <a:schemeClr val="dk1"/>
                          </a:solidFill>
                        </a:rPr>
                        <a:t>Tax</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9.272</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b="1" lang="en" sz="1000" u="none" cap="none" strike="noStrike">
                          <a:solidFill>
                            <a:schemeClr val="dk1"/>
                          </a:solidFill>
                        </a:rPr>
                        <a:t>Department Budget</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-60</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b="1" lang="en" sz="1000" u="none" cap="none" strike="noStrike">
                          <a:solidFill>
                            <a:schemeClr val="dk1"/>
                          </a:solidFill>
                        </a:rPr>
                        <a:t>Total</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41.992</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r">
                        <a:lnSpc>
                          <a:spcPct val="115000"/>
                        </a:lnSpc>
                        <a:spcBef>
                          <a:spcPts val="0"/>
                        </a:spcBef>
                        <a:spcAft>
                          <a:spcPts val="0"/>
                        </a:spcAft>
                        <a:buClr>
                          <a:srgbClr val="000000"/>
                        </a:buClr>
                        <a:buSzPts val="1000"/>
                        <a:buFont typeface="Arial"/>
                        <a:buNone/>
                      </a:pPr>
                      <a:r>
                        <a:rPr b="1" lang="en" sz="1000" u="none" cap="none" strike="noStrike">
                          <a:solidFill>
                            <a:schemeClr val="dk1"/>
                          </a:solidFill>
                        </a:rPr>
                        <a:t>Cost per person</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solidFill>
                            <a:schemeClr val="dk1"/>
                          </a:solidFill>
                        </a:rPr>
                        <a:t>14.00</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36" name="Google Shape;136;p4"/>
          <p:cNvSpPr txBox="1"/>
          <p:nvPr/>
        </p:nvSpPr>
        <p:spPr>
          <a:xfrm>
            <a:off x="1325175" y="-637875"/>
            <a:ext cx="6468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3"/>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5"/>
          <p:cNvPicPr preferRelativeResize="0"/>
          <p:nvPr/>
        </p:nvPicPr>
        <p:blipFill rotWithShape="1">
          <a:blip r:embed="rId3">
            <a:alphaModFix amt="10000"/>
          </a:blip>
          <a:srcRect b="12500" l="0" r="0" t="12500"/>
          <a:stretch/>
        </p:blipFill>
        <p:spPr>
          <a:xfrm>
            <a:off x="0" y="0"/>
            <a:ext cx="9144000" cy="5143500"/>
          </a:xfrm>
          <a:prstGeom prst="rect">
            <a:avLst/>
          </a:prstGeom>
          <a:noFill/>
          <a:ln>
            <a:noFill/>
          </a:ln>
        </p:spPr>
      </p:pic>
      <p:sp>
        <p:nvSpPr>
          <p:cNvPr id="142" name="Google Shape;142;p5"/>
          <p:cNvSpPr txBox="1"/>
          <p:nvPr>
            <p:ph type="title"/>
          </p:nvPr>
        </p:nvSpPr>
        <p:spPr>
          <a:xfrm>
            <a:off x="311700" y="445025"/>
            <a:ext cx="8520600" cy="572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Learning Experience</a:t>
            </a:r>
            <a:endParaRPr/>
          </a:p>
        </p:txBody>
      </p:sp>
      <p:sp>
        <p:nvSpPr>
          <p:cNvPr id="143" name="Google Shape;143;p5"/>
          <p:cNvSpPr txBox="1"/>
          <p:nvPr>
            <p:ph idx="1" type="body"/>
          </p:nvPr>
        </p:nvSpPr>
        <p:spPr>
          <a:xfrm>
            <a:off x="311700" y="1152475"/>
            <a:ext cx="8520600" cy="34164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Soldering</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Complex wiring</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Arduino/C++ programming</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Testing the accelerometer</a:t>
            </a:r>
            <a:endParaRPr>
              <a:latin typeface="Helvetica Neue Light"/>
              <a:ea typeface="Helvetica Neue Light"/>
              <a:cs typeface="Helvetica Neue Light"/>
              <a:sym typeface="Helvetica Neue Light"/>
            </a:endParaRPr>
          </a:p>
        </p:txBody>
      </p:sp>
      <p:pic>
        <p:nvPicPr>
          <p:cNvPr id="144" name="Google Shape;144;p5" title="IMG_2771.jpg"/>
          <p:cNvPicPr preferRelativeResize="0"/>
          <p:nvPr/>
        </p:nvPicPr>
        <p:blipFill rotWithShape="1">
          <a:blip r:embed="rId4">
            <a:alphaModFix/>
          </a:blip>
          <a:srcRect b="0" l="0" r="0" t="0"/>
          <a:stretch/>
        </p:blipFill>
        <p:spPr>
          <a:xfrm rot="209589">
            <a:off x="4620100" y="488951"/>
            <a:ext cx="2967423" cy="1669175"/>
          </a:xfrm>
          <a:prstGeom prst="rect">
            <a:avLst/>
          </a:prstGeom>
          <a:noFill/>
          <a:ln cap="flat" cmpd="sng" w="28575">
            <a:solidFill>
              <a:schemeClr val="dk1"/>
            </a:solidFill>
            <a:prstDash val="solid"/>
            <a:round/>
            <a:headEnd len="sm" w="sm" type="none"/>
            <a:tailEnd len="sm" w="sm" type="none"/>
          </a:ln>
          <a:effectLst>
            <a:outerShdw blurRad="57150" rotWithShape="0" algn="bl" dir="5400000" dist="19050">
              <a:srgbClr val="000000">
                <a:alpha val="49803"/>
              </a:srgbClr>
            </a:outerShdw>
          </a:effectLst>
        </p:spPr>
      </p:pic>
      <p:pic>
        <p:nvPicPr>
          <p:cNvPr id="145" name="Google Shape;145;p5"/>
          <p:cNvPicPr preferRelativeResize="0"/>
          <p:nvPr/>
        </p:nvPicPr>
        <p:blipFill rotWithShape="1">
          <a:blip r:embed="rId5">
            <a:alphaModFix/>
          </a:blip>
          <a:srcRect b="0" l="0" r="0" t="0"/>
          <a:stretch/>
        </p:blipFill>
        <p:spPr>
          <a:xfrm>
            <a:off x="6867472" y="1859750"/>
            <a:ext cx="1779850" cy="13278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49803"/>
              </a:srgbClr>
            </a:outerShdw>
          </a:effectLst>
        </p:spPr>
      </p:pic>
      <p:pic>
        <p:nvPicPr>
          <p:cNvPr id="146" name="Google Shape;146;p5"/>
          <p:cNvPicPr preferRelativeResize="0"/>
          <p:nvPr/>
        </p:nvPicPr>
        <p:blipFill rotWithShape="1">
          <a:blip r:embed="rId6">
            <a:alphaModFix/>
          </a:blip>
          <a:srcRect b="0" l="0" r="0" t="0"/>
          <a:stretch/>
        </p:blipFill>
        <p:spPr>
          <a:xfrm>
            <a:off x="3334153" y="2883762"/>
            <a:ext cx="2475674" cy="1685102"/>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6"/>
          <p:cNvPicPr preferRelativeResize="0"/>
          <p:nvPr/>
        </p:nvPicPr>
        <p:blipFill rotWithShape="1">
          <a:blip r:embed="rId3">
            <a:alphaModFix amt="10000"/>
          </a:blip>
          <a:srcRect b="12500" l="0" r="0" t="12500"/>
          <a:stretch/>
        </p:blipFill>
        <p:spPr>
          <a:xfrm>
            <a:off x="0" y="0"/>
            <a:ext cx="9144000" cy="5143500"/>
          </a:xfrm>
          <a:prstGeom prst="rect">
            <a:avLst/>
          </a:prstGeom>
          <a:noFill/>
          <a:ln>
            <a:noFill/>
          </a:ln>
        </p:spPr>
      </p:pic>
      <p:sp>
        <p:nvSpPr>
          <p:cNvPr id="152" name="Google Shape;152;p6"/>
          <p:cNvSpPr txBox="1"/>
          <p:nvPr>
            <p:ph type="title"/>
          </p:nvPr>
        </p:nvSpPr>
        <p:spPr>
          <a:xfrm>
            <a:off x="311700" y="445025"/>
            <a:ext cx="8520600" cy="572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Challenges</a:t>
            </a:r>
            <a:endParaRPr/>
          </a:p>
        </p:txBody>
      </p:sp>
      <p:sp>
        <p:nvSpPr>
          <p:cNvPr id="153" name="Google Shape;153;p6"/>
          <p:cNvSpPr txBox="1"/>
          <p:nvPr>
            <p:ph idx="1" type="body"/>
          </p:nvPr>
        </p:nvSpPr>
        <p:spPr>
          <a:xfrm>
            <a:off x="311700" y="1152475"/>
            <a:ext cx="8520600" cy="34164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Over budget cost (if any breaks, it could set us back by quite a lot)</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How to use Arduino: aligning coordinates, transmitting data back &amp; forth</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Coding bugs: Doesn’t stop after radio stops transmitting </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Car troubleshooting (i.e. fitting the wheels, not enough power feeding into the motors, electromagnetic interference)</a:t>
            </a:r>
            <a:endParaRPr>
              <a:latin typeface="Helvetica Neue Light"/>
              <a:ea typeface="Helvetica Neue Light"/>
              <a:cs typeface="Helvetica Neue Light"/>
              <a:sym typeface="Helvetica Neue Light"/>
            </a:endParaRPr>
          </a:p>
        </p:txBody>
      </p:sp>
      <p:pic>
        <p:nvPicPr>
          <p:cNvPr id="154" name="Google Shape;154;p6" title="IMG_2763.jpg"/>
          <p:cNvPicPr preferRelativeResize="0"/>
          <p:nvPr/>
        </p:nvPicPr>
        <p:blipFill rotWithShape="1">
          <a:blip r:embed="rId4">
            <a:alphaModFix/>
          </a:blip>
          <a:srcRect b="0" l="0" r="0" t="0"/>
          <a:stretch/>
        </p:blipFill>
        <p:spPr>
          <a:xfrm>
            <a:off x="2978463" y="3034426"/>
            <a:ext cx="3187077" cy="1792751"/>
          </a:xfrm>
          <a:prstGeom prst="rect">
            <a:avLst/>
          </a:prstGeom>
          <a:noFill/>
          <a:ln cap="flat" cmpd="sng" w="28575">
            <a:solidFill>
              <a:schemeClr val="dk1"/>
            </a:solidFill>
            <a:prstDash val="solid"/>
            <a:round/>
            <a:headEnd len="sm" w="sm" type="none"/>
            <a:tailEnd len="sm" w="sm" type="none"/>
          </a:ln>
          <a:effectLst>
            <a:outerShdw blurRad="57150" rotWithShape="0" algn="bl" dir="5400000" dist="19050">
              <a:srgbClr val="000000">
                <a:alpha val="49803"/>
              </a:srgbClr>
            </a:outerShdw>
          </a:effectLst>
        </p:spPr>
      </p:pic>
      <p:sp>
        <p:nvSpPr>
          <p:cNvPr id="155" name="Google Shape;155;p6"/>
          <p:cNvSpPr txBox="1"/>
          <p:nvPr/>
        </p:nvSpPr>
        <p:spPr>
          <a:xfrm rot="-298651">
            <a:off x="707492" y="3280585"/>
            <a:ext cx="1628542" cy="1108166"/>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dk1"/>
                </a:solidFill>
                <a:latin typeface="Helvetica Neue"/>
                <a:ea typeface="Helvetica Neue"/>
                <a:cs typeface="Helvetica Neue"/>
                <a:sym typeface="Helvetica Neue"/>
              </a:rPr>
              <a:t>$$$</a:t>
            </a:r>
            <a:endParaRPr b="1" i="0" sz="6000" u="none" cap="none" strike="noStrike">
              <a:solidFill>
                <a:schemeClr val="dk1"/>
              </a:solidFill>
              <a:latin typeface="Helvetica Neue"/>
              <a:ea typeface="Helvetica Neue"/>
              <a:cs typeface="Helvetica Neue"/>
              <a:sym typeface="Helvetica Neue"/>
            </a:endParaRPr>
          </a:p>
        </p:txBody>
      </p:sp>
      <p:pic>
        <p:nvPicPr>
          <p:cNvPr id="156" name="Google Shape;156;p6"/>
          <p:cNvPicPr preferRelativeResize="0"/>
          <p:nvPr/>
        </p:nvPicPr>
        <p:blipFill rotWithShape="1">
          <a:blip r:embed="rId5">
            <a:alphaModFix amt="50000"/>
          </a:blip>
          <a:srcRect b="0" l="0" r="0" t="0"/>
          <a:stretch/>
        </p:blipFill>
        <p:spPr>
          <a:xfrm rot="509103">
            <a:off x="6589152" y="3311954"/>
            <a:ext cx="1463040" cy="1463040"/>
          </a:xfrm>
          <a:prstGeom prst="rect">
            <a:avLst/>
          </a:prstGeom>
          <a:noFill/>
          <a:ln>
            <a:noFill/>
          </a:ln>
          <a:effectLst>
            <a:outerShdw blurRad="57150" rotWithShape="0" algn="bl" dir="5400000" dist="19050">
              <a:srgbClr val="000000">
                <a:alpha val="49803"/>
              </a:srgbClr>
            </a:outerShdw>
          </a:effectLst>
        </p:spPr>
      </p:pic>
      <p:pic>
        <p:nvPicPr>
          <p:cNvPr id="157" name="Google Shape;157;p6"/>
          <p:cNvPicPr preferRelativeResize="0"/>
          <p:nvPr/>
        </p:nvPicPr>
        <p:blipFill rotWithShape="1">
          <a:blip r:embed="rId5">
            <a:alphaModFix amt="45000"/>
          </a:blip>
          <a:srcRect b="0" l="0" r="0" t="0"/>
          <a:stretch/>
        </p:blipFill>
        <p:spPr>
          <a:xfrm rot="-7973988">
            <a:off x="8041591" y="3565040"/>
            <a:ext cx="731519" cy="731520"/>
          </a:xfrm>
          <a:prstGeom prst="rect">
            <a:avLst/>
          </a:prstGeom>
          <a:noFill/>
          <a:ln>
            <a:noFill/>
          </a:ln>
          <a:effectLst>
            <a:outerShdw blurRad="57150" rotWithShape="0" algn="bl" dir="5400000" dist="19050">
              <a:srgbClr val="000000">
                <a:alpha val="49803"/>
              </a:srgbClr>
            </a:outerShdw>
          </a:effectLst>
        </p:spPr>
      </p:pic>
      <p:pic>
        <p:nvPicPr>
          <p:cNvPr id="158" name="Google Shape;158;p6"/>
          <p:cNvPicPr preferRelativeResize="0"/>
          <p:nvPr/>
        </p:nvPicPr>
        <p:blipFill rotWithShape="1">
          <a:blip r:embed="rId5">
            <a:alphaModFix amt="40000"/>
          </a:blip>
          <a:srcRect b="0" l="0" r="0" t="0"/>
          <a:stretch/>
        </p:blipFill>
        <p:spPr>
          <a:xfrm rot="-3581823">
            <a:off x="7719089" y="3101726"/>
            <a:ext cx="365759" cy="365760"/>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7"/>
          <p:cNvPicPr preferRelativeResize="0"/>
          <p:nvPr/>
        </p:nvPicPr>
        <p:blipFill rotWithShape="1">
          <a:blip r:embed="rId3">
            <a:alphaModFix amt="10000"/>
          </a:blip>
          <a:srcRect b="12500" l="0" r="0" t="12500"/>
          <a:stretch/>
        </p:blipFill>
        <p:spPr>
          <a:xfrm>
            <a:off x="0" y="0"/>
            <a:ext cx="9144000" cy="5143500"/>
          </a:xfrm>
          <a:prstGeom prst="rect">
            <a:avLst/>
          </a:prstGeom>
          <a:noFill/>
          <a:ln>
            <a:noFill/>
          </a:ln>
        </p:spPr>
      </p:pic>
      <p:sp>
        <p:nvSpPr>
          <p:cNvPr id="164" name="Google Shape;164;p7"/>
          <p:cNvSpPr txBox="1"/>
          <p:nvPr>
            <p:ph type="title"/>
          </p:nvPr>
        </p:nvSpPr>
        <p:spPr>
          <a:xfrm>
            <a:off x="311700" y="445025"/>
            <a:ext cx="8520600" cy="572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Improvements</a:t>
            </a:r>
            <a:endParaRPr/>
          </a:p>
        </p:txBody>
      </p:sp>
      <p:sp>
        <p:nvSpPr>
          <p:cNvPr id="165" name="Google Shape;165;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Overall design/visual (better casing for chassis, cleaner housing for the wiring)</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Faster speed (add more voltage)</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Arduino/C++ code optimization</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Wanted to fit the transceiver on a glove, ended up housing controller in a case</a:t>
            </a:r>
            <a:endParaRPr>
              <a:latin typeface="Helvetica Neue Light"/>
              <a:ea typeface="Helvetica Neue Light"/>
              <a:cs typeface="Helvetica Neue Light"/>
              <a:sym typeface="Helvetica Neue Light"/>
            </a:endParaRPr>
          </a:p>
          <a:p>
            <a:pPr indent="-342900" lvl="0" marL="457200" rtl="0" algn="l">
              <a:lnSpc>
                <a:spcPct val="115000"/>
              </a:lnSpc>
              <a:spcBef>
                <a:spcPts val="0"/>
              </a:spcBef>
              <a:spcAft>
                <a:spcPts val="0"/>
              </a:spcAft>
              <a:buSzPts val="1800"/>
              <a:buFont typeface="Helvetica Neue Light"/>
              <a:buChar char="●"/>
            </a:pPr>
            <a:r>
              <a:rPr lang="en">
                <a:latin typeface="Helvetica Neue Light"/>
                <a:ea typeface="Helvetica Neue Light"/>
                <a:cs typeface="Helvetica Neue Light"/>
                <a:sym typeface="Helvetica Neue Light"/>
              </a:rPr>
              <a:t>Add a powerswitch (ON/OFF)</a:t>
            </a:r>
            <a:endParaRPr>
              <a:latin typeface="Helvetica Neue Light"/>
              <a:ea typeface="Helvetica Neue Light"/>
              <a:cs typeface="Helvetica Neue Light"/>
              <a:sym typeface="Helvetica Neue Light"/>
            </a:endParaRPr>
          </a:p>
        </p:txBody>
      </p:sp>
      <p:pic>
        <p:nvPicPr>
          <p:cNvPr id="166" name="Google Shape;166;p7"/>
          <p:cNvPicPr preferRelativeResize="0"/>
          <p:nvPr/>
        </p:nvPicPr>
        <p:blipFill rotWithShape="1">
          <a:blip r:embed="rId4">
            <a:alphaModFix/>
          </a:blip>
          <a:srcRect b="1854" l="969" r="970" t="0"/>
          <a:stretch/>
        </p:blipFill>
        <p:spPr>
          <a:xfrm>
            <a:off x="4319588" y="3022913"/>
            <a:ext cx="3857625" cy="1960025"/>
          </a:xfrm>
          <a:prstGeom prst="rect">
            <a:avLst/>
          </a:prstGeom>
          <a:noFill/>
          <a:ln cap="flat" cmpd="sng" w="28575">
            <a:solidFill>
              <a:srgbClr val="FFFFFF"/>
            </a:solidFill>
            <a:prstDash val="solid"/>
            <a:round/>
            <a:headEnd len="sm" w="sm" type="none"/>
            <a:tailEnd len="sm" w="sm" type="none"/>
          </a:ln>
          <a:effectLst>
            <a:outerShdw blurRad="57150" rotWithShape="0" algn="bl" dir="5400000" dist="1905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8"/>
          <p:cNvPicPr preferRelativeResize="0"/>
          <p:nvPr/>
        </p:nvPicPr>
        <p:blipFill rotWithShape="1">
          <a:blip r:embed="rId3">
            <a:alphaModFix amt="10000"/>
          </a:blip>
          <a:srcRect b="12500" l="0" r="0" t="12500"/>
          <a:stretch/>
        </p:blipFill>
        <p:spPr>
          <a:xfrm>
            <a:off x="0" y="0"/>
            <a:ext cx="9144000" cy="5143500"/>
          </a:xfrm>
          <a:prstGeom prst="rect">
            <a:avLst/>
          </a:prstGeom>
          <a:noFill/>
          <a:ln>
            <a:noFill/>
          </a:ln>
        </p:spPr>
      </p:pic>
      <p:sp>
        <p:nvSpPr>
          <p:cNvPr id="172" name="Google Shape;172;p8"/>
          <p:cNvSpPr txBox="1"/>
          <p:nvPr>
            <p:ph type="title"/>
          </p:nvPr>
        </p:nvSpPr>
        <p:spPr>
          <a:xfrm>
            <a:off x="645900" y="2141250"/>
            <a:ext cx="7852200" cy="861000"/>
          </a:xfrm>
          <a:prstGeom prst="rect">
            <a:avLst/>
          </a:prstGeom>
          <a:noFill/>
          <a:ln>
            <a:noFill/>
          </a:ln>
          <a:effectLst>
            <a:outerShdw blurRad="57150" rotWithShape="0" algn="bl" dir="5400000" dist="19050">
              <a:srgbClr val="000000">
                <a:alpha val="49803"/>
              </a:srgbClr>
            </a:outerShdw>
          </a:effectLst>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LIVE DEMO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